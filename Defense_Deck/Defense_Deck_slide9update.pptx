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Over the next twenty minutes I want to convince you of one thing:</a:t>
            </a:r>
          </a:p>
          <a:p>
            <a:r>
              <a:t>a ground-penetrating radar can measure a movement that is far smaller than the</a:t>
            </a:r>
          </a:p>
          <a:p>
            <a:r>
              <a:t>wave it uses to look. About thirty times smaller. And the reason it can is that</a:t>
            </a:r>
          </a:p>
          <a:p>
            <a:r>
              <a:t>we have been reading the wrong half of the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problem that motivates everything. You survey a site. You come back</a:t>
            </a:r>
          </a:p>
          <a:p>
            <a:r>
              <a:t>later and survey it again. Something in between has moved — a fracture has</a:t>
            </a:r>
          </a:p>
          <a:p>
            <a:r>
              <a:t>filled with water, a slope has crept, a wetting front has advanced. You want to</a:t>
            </a:r>
          </a:p>
          <a:p>
            <a:r>
              <a:t>know what moved and by how much.</a:t>
            </a:r>
          </a:p>
          <a:p/>
          <a:p>
            <a:r>
              <a:t>That is a TIME-LAPSE question, and I will come back to it properly in a few</a:t>
            </a:r>
          </a:p>
          <a:p>
            <a:r>
              <a:t>minutes. But to answer it, we first have to be honest about a much older</a:t>
            </a:r>
          </a:p>
          <a:p>
            <a:r>
              <a:t>limitation — one that applies even to a single, static survey. So let me PARK</a:t>
            </a:r>
          </a:p>
          <a:p>
            <a:r>
              <a:t>time-lapse for now and start there.</a:t>
            </a:r>
          </a:p>
          <a:p/>
          <a:p>
            <a:r>
              <a:t>[Coaching] Say "park it" out loud. It signals the structure and buys patience</a:t>
            </a:r>
          </a:p>
          <a:p>
            <a:r>
              <a:t>through slides 3 and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GPR builds its image from a short electromagnetic pulse. Everything about how</a:t>
            </a:r>
          </a:p>
          <a:p>
            <a:r>
              <a:t>finely it can see is set by the length of that pulse. In my setup — 1.5 GHz in</a:t>
            </a:r>
          </a:p>
          <a:p>
            <a:r>
              <a:t>ice — one wavelength is about eleven centimetres.</a:t>
            </a:r>
          </a:p>
          <a:p/>
          <a:p>
            <a:r>
              <a:t>[The animation runs at λ = 1 m for readability. Say so: "I've scaled the</a:t>
            </a:r>
          </a:p>
          <a:p>
            <a:r>
              <a:t>wavelength to one metre here so the numbers are easy to read — the physics is</a:t>
            </a:r>
          </a:p>
          <a:p>
            <a:r>
              <a:t>scale-invariant."]</a:t>
            </a:r>
          </a:p>
          <a:p/>
          <a:p>
            <a:r>
              <a:t>Two reflectors closer than roughly half a wavelength stop being two reflectors.</a:t>
            </a:r>
          </a:p>
          <a:p>
            <a:r>
              <a:t>Laterally that limit comes from the Fresnel zone; vertically from the pulse</a:t>
            </a:r>
          </a:p>
          <a:p>
            <a:r>
              <a:t>bandwidth. Same physics as the Rayleigh criterion in optics.</a:t>
            </a:r>
          </a:p>
          <a:p/>
          <a:p>
            <a:r>
              <a:t>And crucially: MIGRATION DOES NOT FIX THIS. Migration moves recorded energy back</a:t>
            </a:r>
          </a:p>
          <a:p>
            <a:r>
              <a:t>to where it belongs — it focuses — but you still read the result off as an</a:t>
            </a:r>
          </a:p>
          <a:p>
            <a:r>
              <a:t>AMPLITUDE picture, and that is still bound by the same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that limit measured rather than asserted. Two stationary scatterers, gap</a:t>
            </a:r>
          </a:p>
          <a:p>
            <a:r>
              <a:t>swept from one wavelength down to an eighth, migrated three different ways —</a:t>
            </a:r>
          </a:p>
          <a:p>
            <a:r>
              <a:t>Kirchhoff, Gazdag phase-shift, and time-reversal back-propagation.</a:t>
            </a:r>
          </a:p>
          <a:p/>
          <a:p>
            <a:r>
              <a:t>Read it top to bottom. At one wavelength, all three give two clean peaks. At a</a:t>
            </a:r>
          </a:p>
          <a:p>
            <a:r>
              <a:t>half, Kirchhoff has already lost it — ratio 0.89, below the Rayleigh threshold</a:t>
            </a:r>
          </a:p>
          <a:p>
            <a:r>
              <a:t>of one. By a quarter wavelength everything is a single lobe. There is genuinely</a:t>
            </a:r>
          </a:p>
          <a:p>
            <a:r>
              <a:t>no information left in the amplitude.</a:t>
            </a:r>
          </a:p>
          <a:p/>
          <a:p>
            <a:r>
              <a:t>Back-propagation is the best of the three — it holds on to about a quarter</a:t>
            </a:r>
          </a:p>
          <a:p>
            <a:r>
              <a:t>wavelength — but the point is not which algorithm wins. They ALL hit a wall, and</a:t>
            </a:r>
          </a:p>
          <a:p>
            <a:r>
              <a:t>the wall is at roughly half a wavelength. Call this the IMAGING RESOLUTION FLOOR.</a:t>
            </a:r>
          </a:p>
          <a:p/>
          <a:p>
            <a:r>
              <a:t>[Coaching] Physically point at the ½λ Kirchhoff panel. That single panel is the</a:t>
            </a:r>
          </a:p>
          <a:p>
            <a:r>
              <a:t>whole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★ THE PIVOT SLIDE. Slow down. If they remember one slide, make it this one.</a:t>
            </a:r>
          </a:p>
          <a:p/>
          <a:p>
            <a:r>
              <a:t>Now I want to draw a distinction that the rest of the talk depends on, so let me</a:t>
            </a:r>
          </a:p>
          <a:p>
            <a:r>
              <a:t>be very explicit about it.</a:t>
            </a:r>
          </a:p>
          <a:p/>
          <a:p>
            <a:r>
              <a:t>Everything so far has been IMAGING RESOLUTION. One survey, one snapshot, and the</a:t>
            </a:r>
          </a:p>
          <a:p>
            <a:r>
              <a:t>question is: where is this thing and can I separate it from its neighbour? That</a:t>
            </a:r>
          </a:p>
          <a:p>
            <a:r>
              <a:t>is a question about SPACE, and the answer is the half-wavelength floor we just</a:t>
            </a:r>
          </a:p>
          <a:p>
            <a:r>
              <a:t>measured.</a:t>
            </a:r>
          </a:p>
          <a:p/>
          <a:p>
            <a:r>
              <a:t>What I actually care about is a different question. Two surveys, and the</a:t>
            </a:r>
          </a:p>
          <a:p>
            <a:r>
              <a:t>question is: how far did this thing move between them? That is a question about</a:t>
            </a:r>
          </a:p>
          <a:p>
            <a:r>
              <a:t>CHANGE OVER TIME. Call it MONITORING RESOLUTION.</a:t>
            </a:r>
          </a:p>
          <a:p/>
          <a:p>
            <a:r>
              <a:t>These are not the same quantity, and there is no law that says they must have</a:t>
            </a:r>
          </a:p>
          <a:p>
            <a:r>
              <a:t>the same limit. That is the opening this thesis walks through.</a:t>
            </a:r>
          </a:p>
          <a:p/>
          <a:p>
            <a:r>
              <a:t>[Build order: left panel → divider → right panel header → the "?"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obvious thing to try: migrate both surveys, subtract, look at what is left.</a:t>
            </a:r>
          </a:p>
          <a:p>
            <a:r>
              <a:t>That works — as long as the movement is big.</a:t>
            </a:r>
          </a:p>
          <a:p/>
          <a:p>
            <a:r>
              <a:t>But the difference image inherits the same floor. Below about a quarter</a:t>
            </a:r>
          </a:p>
          <a:p>
            <a:r>
              <a:t>wavelength the baseline and monitor lobes overlap so completely that their</a:t>
            </a:r>
          </a:p>
          <a:p>
            <a:r>
              <a:t>difference carries no usable position information.</a:t>
            </a:r>
          </a:p>
          <a:p/>
          <a:p>
            <a:r>
              <a:t>[Point out the FIXED colour scale — this is the honest bit. Auto-scaling a</a:t>
            </a:r>
          </a:p>
          <a:p>
            <a:r>
              <a:t>difference image always shows SOMETHING, which is exactly how people fool</a:t>
            </a:r>
          </a:p>
          <a:p>
            <a:r>
              <a:t>themselves. Pinned to the baseline's own peak, the difference visibly dies.]</a:t>
            </a:r>
          </a:p>
          <a:p/>
          <a:p>
            <a:r>
              <a:t>So amplitude differencing does not buy a new limit. It re-imports the old one.</a:t>
            </a:r>
          </a:p>
          <a:p>
            <a:r>
              <a:t>We need to stop looking at amplitude.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physical insight the whole method rests on.</a:t>
            </a:r>
          </a:p>
          <a:p/>
          <a:p>
            <a:r>
              <a:t>A migrated point scatterer is an ENVELOPE — a broad amplitude lobe, roughly a</a:t>
            </a:r>
          </a:p>
          <a:p>
            <a:r>
              <a:t>wavelength wide — with a wave oscillating underneath it. To read a position off</a:t>
            </a:r>
          </a:p>
          <a:p>
            <a:r>
              <a:t>the envelope you have to locate the peak of that broad lobe on a discrete grid.</a:t>
            </a:r>
          </a:p>
          <a:p>
            <a:r>
              <a:t>Watch panel (c): the grey curve is a STAIRCASE. Below one sample spacing it</a:t>
            </a:r>
          </a:p>
          <a:p>
            <a:r>
              <a:t>reports zero movement.</a:t>
            </a:r>
          </a:p>
          <a:p/>
          <a:p>
            <a:r>
              <a:t>Now the phase of the wave underneath. It advances continuously and linearly with</a:t>
            </a:r>
          </a:p>
          <a:p>
            <a:r>
              <a:t>position. No threshold, no floor, no minimum detectable shift. Panel (b) makes</a:t>
            </a:r>
          </a:p>
          <a:p>
            <a:r>
              <a:t>it concrete: the displacement is literally an angle.</a:t>
            </a:r>
          </a:p>
          <a:p/>
          <a:p>
            <a:r>
              <a:t>The information was always there. Amplitude imaging quantises it away.</a:t>
            </a:r>
          </a:p>
          <a:p/>
          <a:p>
            <a:r>
              <a:t>[Coaching] Best moment in the talk. Let the animation run once in silence before</a:t>
            </a:r>
          </a:p>
          <a:p>
            <a:r>
              <a:t>narrating the second half.</a:t>
            </a:r>
          </a:p>
          <a:p/>
          <a:p>
            <a:r>
              <a:t>[If challenged: "doesn't the envelope shift too?" — Yes, exactly, and that is</a:t>
            </a:r>
          </a:p>
          <a:p>
            <a:r>
              <a:t>why I am careful to say READS IN STEPS rather than DOESN'T MOVE. The envelope</a:t>
            </a:r>
          </a:p>
          <a:p>
            <a:r>
              <a:t>translates; what fails is separating two of them (slides 4 and 6) and reading a</a:t>
            </a:r>
          </a:p>
          <a:p>
            <a:r>
              <a:t>sub-sample position off a discretised amplitude image.]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turn that insight into a number, I move into the two-dimensional Fourier</a:t>
            </a:r>
          </a:p>
          <a:p>
            <a:r>
              <a:t>domain — wavenumber space.</a:t>
            </a:r>
          </a:p>
          <a:p/>
          <a:p>
            <a:r>
              <a:t>The Fourier shift theorem says something very convenient: translating an image</a:t>
            </a:r>
          </a:p>
          <a:p>
            <a:r>
              <a:t>in space does not change its amplitude spectrum AT ALL. It only rotates the</a:t>
            </a:r>
          </a:p>
          <a:p>
            <a:r>
              <a:t>phase, by an amount proportional to the wavenumber.</a:t>
            </a:r>
          </a:p>
          <a:p/>
          <a:p>
            <a:r>
              <a:t>So on the left, the scatterer slides. On the right, watch the phase go from flat</a:t>
            </a:r>
          </a:p>
          <a:p>
            <a:r>
              <a:t>— no shift — to a smooth ramp. The steeper that ramp, the bigger the shift. The</a:t>
            </a:r>
          </a:p>
          <a:p>
            <a:r>
              <a:t>slope IS the displacement.</a:t>
            </a:r>
          </a:p>
          <a:p/>
          <a:p>
            <a:r>
              <a:t>That is the conversion I need: from a displacement I cannot see, to a slope I</a:t>
            </a:r>
          </a:p>
          <a:p>
            <a:r>
              <a:t>can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DERIVATION SLIDE. Four formula/clip pairs; you control every step.</a:t>
            </a:r>
          </a:p>
          <a:p/>
          <a:p>
            <a:r>
              <a:t>Two panels stay in the same place the whole way through — left is always the</a:t>
            </a:r>
          </a:p>
          <a:p>
            <a:r>
              <a:t>baseline, right is always the monitor. Only what they REPRESENT changes. Say</a:t>
            </a:r>
          </a:p>
          <a:p>
            <a:r>
              <a:t>that at the start; it is what stops the domain change from being disorienting.</a:t>
            </a:r>
          </a:p>
          <a:p/>
          <a:p>
            <a:r>
              <a:t>[1] The complication first: the two surveys differ by a translation, and that</a:t>
            </a:r>
          </a:p>
          <a:p>
            <a:r>
              <a:t>is all. m(x,z) = b(x−Δx, z−Δz). Click: the right-hand scatterer walks to its</a:t>
            </a:r>
          </a:p>
          <a:p>
            <a:r>
              <a:t>monitor position.</a:t>
            </a:r>
          </a:p>
          <a:p/>
          <a:p>
            <a:r>
              <a:t>[2] Click: both panels become their migrated versions. The sharp point becomes</a:t>
            </a:r>
          </a:p>
          <a:p>
            <a:r>
              <a:t>a broad lobe — that lobe is the resolution floor from earlier. But the relation</a:t>
            </a:r>
          </a:p>
          <a:p>
            <a:r>
              <a:t>still holds exactly, because migration is linear and I use the same operator on</a:t>
            </a:r>
          </a:p>
          <a:p>
            <a:r>
              <a:t>both surveys.</a:t>
            </a:r>
          </a:p>
          <a:p/>
          <a:p>
            <a:r>
              <a:t>[3] Now into the two-dimensional Fourier domain. The shift theorem says a</a:t>
            </a:r>
          </a:p>
          <a:p>
            <a:r>
              <a:t>translation does not touch the amplitude spectrum at all; it only multiplies by</a:t>
            </a:r>
          </a:p>
          <a:p>
            <a:r>
              <a:t>a phase ramp. Click: both panels become their spectra — and they are</a:t>
            </a:r>
          </a:p>
          <a:p>
            <a:r>
              <a:t>IDENTICAL. Pause here. That is the point: a displacement is completely</a:t>
            </a:r>
          </a:p>
          <a:p>
            <a:r>
              <a:t>invisible in the amplitude spectrum. Everything we need is hiding in the phase.</a:t>
            </a:r>
          </a:p>
          <a:p/>
          <a:p>
            <a:r>
              <a:t>[4] So form the cross-spectrum: baseline times the complex conjugate of the</a:t>
            </a:r>
          </a:p>
          <a:p>
            <a:r>
              <a:t>monitor. Click. The magnitude term is real and positive, so taking the phase</a:t>
            </a:r>
          </a:p>
          <a:p>
            <a:r>
              <a:t>kills it completely, and what survives is a flat plane through the origin. Its</a:t>
            </a:r>
          </a:p>
          <a:p>
            <a:r>
              <a:t>slope along k_z is the vertical displacement; its slope along k_x is the</a:t>
            </a:r>
          </a:p>
          <a:p>
            <a:r>
              <a:t>lateral one.</a:t>
            </a:r>
          </a:p>
          <a:p/>
          <a:p>
            <a:r>
              <a:t>That's it — that's the method. Everything after this is measurement.</a:t>
            </a:r>
          </a:p>
          <a:p/>
          <a:p>
            <a:r>
              <a:t>[Coaching] Say "that's the method" out loud. It signals the conceptual work is</a:t>
            </a:r>
          </a:p>
          <a:p>
            <a:r>
              <a:t>done and the audience can relax.</a:t>
            </a:r>
          </a:p>
          <a:p/>
          <a:p>
            <a:r>
              <a:t>[If the projector will not play video: the four *_final.png stills in</a:t>
            </a:r>
          </a:p>
          <a:p>
            <a:r>
              <a:t>assets/animations/ are the end state of each act. Step through those instead.]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directions do not interfere. Purely lateral motion tilts the plane along</a:t>
            </a:r>
          </a:p>
          <a:p>
            <a:r>
              <a:t>k_x and leaves k_z flat. Purely vertical does the reverse. A diagonal movement</a:t>
            </a:r>
          </a:p>
          <a:p>
            <a:r>
              <a:t>tilts both, and the fit recovers each component independently — I tested that on</a:t>
            </a:r>
          </a:p>
          <a:p>
            <a:r>
              <a:t>a 2:1 diagonal path and got the ratio back correctly.</a:t>
            </a:r>
          </a:p>
          <a:p/>
          <a:p>
            <a:r>
              <a:t>One asymmetry worth flagging, because it surprised me. In the SPATIAL domain</a:t>
            </a:r>
          </a:p>
          <a:p>
            <a:r>
              <a:t>these two directions behave completely differently — a migrated image separates</a:t>
            </a:r>
          </a:p>
          <a:p>
            <a:r>
              <a:t>lateral spatial frequencies across its width, like a prism, but it does not do</a:t>
            </a:r>
          </a:p>
          <a:p>
            <a:r>
              <a:t>the same in depth. In the FOURIER domain that asymmetry disappears: both are</a:t>
            </a:r>
          </a:p>
          <a:p>
            <a:r>
              <a:t>just slopes of the same plane.</a:t>
            </a:r>
          </a:p>
          <a:p/>
          <a:p>
            <a:r>
              <a:t>That is the practical argument for doing this in wavenumber space rather than</a:t>
            </a:r>
          </a:p>
          <a:p>
            <a:r>
              <a:t>reading phase gradients off the image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EQUATION 2 OF 2. Do not derive it. Point at it and move on.</a:t>
            </a:r>
          </a:p>
          <a:p/>
          <a:p>
            <a:r>
              <a:t>A real image gives me thousands of frequency bins, each an independent noisy</a:t>
            </a:r>
          </a:p>
          <a:p>
            <a:r>
              <a:t>observation of that plane, so this is an over-determined least-squares problem.</a:t>
            </a:r>
          </a:p>
          <a:p/>
          <a:p>
            <a:r>
              <a:t>Two things make it robust. First, a band-pass mask that keeps the fit inside the</a:t>
            </a:r>
          </a:p>
          <a:p>
            <a:r>
              <a:t>coherent part of the wavelet spectrum, so the total phase rotation never wraps</a:t>
            </a:r>
          </a:p>
          <a:p>
            <a:r>
              <a:t>past ±π. Second — and this matters more — I weight every bin by the</a:t>
            </a:r>
          </a:p>
          <a:p>
            <a:r>
              <a:t>cross-spectrum energy. A bin at the antenna's peak power is far more trustworthy</a:t>
            </a:r>
          </a:p>
          <a:p>
            <a:r>
              <a:t>than one at the edge of the band, and unweighted least squares treats them</a:t>
            </a:r>
          </a:p>
          <a:p>
            <a:r>
              <a:t>identically. In the fit panel you can see it working: bright high-weight points</a:t>
            </a:r>
          </a:p>
          <a:p>
            <a:r>
              <a:t>sit tight on the line, dim ones scatter.</a:t>
            </a:r>
          </a:p>
          <a:p/>
          <a:p>
            <a:r>
              <a:t>On this clean example the recovered shift is ten millimetres against a true ten</a:t>
            </a:r>
          </a:p>
          <a:p>
            <a:r>
              <a:t>millimetres.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★ THE MONEY SLIDE. Do not rush. Pause for two full seconds after the first line.</a:t>
            </a:r>
          </a:p>
          <a:p/>
          <a:p>
            <a:r>
              <a:t>This is the central result, and I want to give you a moment to read it.</a:t>
            </a:r>
          </a:p>
          <a:p/>
          <a:p>
            <a:r>
              <a:t>[STOP TALKING. Two seconds.]</a:t>
            </a:r>
          </a:p>
          <a:p/>
          <a:p>
            <a:r>
              <a:t>Four movement types across the columns — lateral, vertical, diagonal, and a</a:t>
            </a:r>
          </a:p>
          <a:p>
            <a:r>
              <a:t>graded fluid front. Three migration methods in colour. Read right to left:</a:t>
            </a:r>
          </a:p>
          <a:p>
            <a:r>
              <a:t>displacement gets SMALLER as you move left.</a:t>
            </a:r>
          </a:p>
          <a:p/>
          <a:p>
            <a:r>
              <a:t>Top row is amplitude — the Rayleigh ratio. Above the dotted line is resolvable.</a:t>
            </a:r>
          </a:p>
          <a:p>
            <a:r>
              <a:t>Every curve crosses below it around a half to a quarter wavelength.</a:t>
            </a:r>
          </a:p>
          <a:p/>
          <a:p>
            <a:r>
              <a:t>Bottom row is the phase method, percentage error on a log scale. Notice WHERE it</a:t>
            </a:r>
          </a:p>
          <a:p>
            <a:r>
              <a:t>drops: at or BEFORE the point where amplitude fails. In the lateral case Gazdag</a:t>
            </a:r>
          </a:p>
          <a:p>
            <a:r>
              <a:t>sits at a few thousandths of a percent error — a few hundredths of a millimetre</a:t>
            </a:r>
          </a:p>
          <a:p>
            <a:r>
              <a:t>— at a displacement of four millimetres, one thirty-second of a wavelength.</a:t>
            </a:r>
          </a:p>
          <a:p/>
          <a:p>
            <a:r>
              <a:t>The two rows are mirror images of each other, and that is the whole claim: phase</a:t>
            </a:r>
          </a:p>
          <a:p>
            <a:r>
              <a:t>becomes reliable precisely where amplitude stops being. Not by a little. By</a:t>
            </a:r>
          </a:p>
          <a:p>
            <a:r>
              <a:t>three to four orders of magnitude.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[CUT THIS SLIDE FIRST if you are running long — slide 12 already shows the</a:t>
            </a:r>
          </a:p>
          <a:p>
            <a:r>
              <a:t>FluidFlow column.]</a:t>
            </a:r>
          </a:p>
          <a:p/>
          <a:p>
            <a:r>
              <a:t>One fair objection to everything so far is that a perfect metal cylinder is a</a:t>
            </a:r>
          </a:p>
          <a:p>
            <a:r>
              <a:t>very generous target. So I repeated the whole sweep with something closer to</a:t>
            </a:r>
          </a:p>
          <a:p>
            <a:r>
              <a:t>what I actually care about: a graded wetting front — seven permittivity steps</a:t>
            </a:r>
          </a:p>
          <a:p>
            <a:r>
              <a:t>from water down to air, standing in for fluid advancing through a fracture.</a:t>
            </a:r>
          </a:p>
          <a:p/>
          <a:p>
            <a:r>
              <a:t>This target is HARDER. Its point-spread function is intrinsically broader, so</a:t>
            </a:r>
          </a:p>
          <a:p>
            <a:r>
              <a:t>amplitude differencing fails even sooner — Gazdag's ratio is already below one</a:t>
            </a:r>
          </a:p>
          <a:p>
            <a:r>
              <a:t>at two full wavelengths.</a:t>
            </a:r>
          </a:p>
          <a:p/>
          <a:p>
            <a:r>
              <a:t>The phase fit does not care. About a millimetre of error, on a target whose own</a:t>
            </a:r>
          </a:p>
          <a:p>
            <a:r>
              <a:t>smear is a hundred and thirteen millimetres wide. So the result is not an</a:t>
            </a:r>
          </a:p>
          <a:p>
            <a:r>
              <a:t>artefact of the idealised point-scatterer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data is not clean, so I repeated all four experiments under noise — and not</a:t>
            </a:r>
          </a:p>
          <a:p>
            <a:r>
              <a:t>arbitrary noise: a Laplace distribution fitted to the amplitude statistics of</a:t>
            </a:r>
          </a:p>
          <a:p>
            <a:r>
              <a:t>the real field dataset, heavier-tailed than a Gaussian because field noise is</a:t>
            </a:r>
          </a:p>
          <a:p>
            <a:r>
              <a:t>dominated by clutter spikes rather than thermal noise.</a:t>
            </a:r>
          </a:p>
          <a:p/>
          <a:p>
            <a:r>
              <a:t>Before testing signal-plus-noise, I ran a sanity check I would recommend to</a:t>
            </a:r>
          </a:p>
          <a:p>
            <a:r>
              <a:t>anyone doing this: migrate noise ALONE. No scatterer, no signal.</a:t>
            </a:r>
          </a:p>
          <a:p/>
          <a:p>
            <a:r>
              <a:t>Kirchhoff turns it into that. Coherent, streaky, focused-looking structure —</a:t>
            </a:r>
          </a:p>
          <a:p>
            <a:r>
              <a:t>manufactured from nothing. And that is structural, not bad luck: delay-and-sum</a:t>
            </a:r>
          </a:p>
          <a:p>
            <a:r>
              <a:t>stacks many traces along travel-time curves, and stacking imposes coherence on</a:t>
            </a:r>
          </a:p>
          <a:p>
            <a:r>
              <a:t>incoherent input BY CONSTRUCTION. Gazdag, which downward-continues in the</a:t>
            </a:r>
          </a:p>
          <a:p>
            <a:r>
              <a:t>frequency domain, leaves it as speckle.</a:t>
            </a:r>
          </a:p>
          <a:p/>
          <a:p>
            <a:r>
              <a:t>This matters because my pipeline crops its fitting window around the brightest</a:t>
            </a:r>
          </a:p>
          <a:p>
            <a:r>
              <a:t>region. If the brightest region is a noise artefact, the fit is meaningless.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which migration should you use? I framed this originally as "which is most</a:t>
            </a:r>
          </a:p>
          <a:p>
            <a:r>
              <a:t>noise-robust", and the honest answer is that this was the WRONG QUESTION,</a:t>
            </a:r>
          </a:p>
          <a:p>
            <a:r>
              <a:t>because the two sensible definitions of robust give opposite answers.</a:t>
            </a:r>
          </a:p>
          <a:p/>
          <a:p>
            <a:r>
              <a:t>On raw accuracy, Kirchhoff wins clearly — 4.5 mm mean absolute error across all</a:t>
            </a:r>
          </a:p>
          <a:p>
            <a:r>
              <a:t>four movement types, about 2.5× better than back-propagation and 4.5× better</a:t>
            </a:r>
          </a:p>
          <a:p>
            <a:r>
              <a:t>than Gazdag.</a:t>
            </a:r>
          </a:p>
          <a:p/>
          <a:p>
            <a:r>
              <a:t>On false-positive risk, Kirchhoff is the ONLY method that fails. It is the one</a:t>
            </a:r>
          </a:p>
          <a:p>
            <a:r>
              <a:t>that manufactures coherent structure from noise.</a:t>
            </a:r>
          </a:p>
          <a:p/>
          <a:p>
            <a:r>
              <a:t>Back-propagation trades a factor of two in accuracy for that safety — but only</a:t>
            </a:r>
          </a:p>
          <a:p>
            <a:r>
              <a:t>once you make it noise-robust, which took one specific change: injecting the</a:t>
            </a:r>
          </a:p>
          <a:p>
            <a:r>
              <a:t>SIGN of the time-reversed wavefield rather than its amplitude. Focusing is</a:t>
            </a:r>
          </a:p>
          <a:p>
            <a:r>
              <a:t>driven by zero-crossings, so the sign carries all the information that matters,</a:t>
            </a:r>
          </a:p>
          <a:p>
            <a:r>
              <a:t>and it clamps every noise spike to the same ±1 as the real signal.</a:t>
            </a:r>
          </a:p>
          <a:p/>
          <a:p>
            <a:r>
              <a:t>Gazdag loses on both counts.</a:t>
            </a:r>
          </a:p>
          <a:p/>
          <a:p>
            <a:r>
              <a:t>My recommendation is conditional: Kirchhoff when you need accuracy and can</a:t>
            </a:r>
          </a:p>
          <a:p>
            <a:r>
              <a:t>cross-check; sign-bit back-propagation when a false detection is the expensive</a:t>
            </a:r>
          </a:p>
          <a:p>
            <a:r>
              <a:t>outcome.</a:t>
            </a:r>
          </a:p>
          <a:p/>
          <a:p>
            <a:r>
              <a:t>[Caveat if pushed: this is one noise level — 10% of each B-scan's own signal</a:t>
            </a:r>
          </a:p>
          <a:p>
            <a:r>
              <a:t>standard deviation. A sweep across levels is future work.]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real data. A single-hole borehole GPR dataset from a controlled</a:t>
            </a:r>
          </a:p>
          <a:p>
            <a:r>
              <a:t>push-pull tracer test in fractured rock — 38 profiles down the same borehole,</a:t>
            </a:r>
          </a:p>
          <a:p>
            <a:r>
              <a:t>from the Shakas campaign.</a:t>
            </a:r>
          </a:p>
          <a:p/>
          <a:p>
            <a:r>
              <a:t>Four stages, each with a physical expectation. Push: fluid actively injected, at</a:t>
            </a:r>
          </a:p>
          <a:p>
            <a:r>
              <a:t>78.7 metres depth. Chase: continued injection at a lower rate. Wait: pumping</a:t>
            </a:r>
          </a:p>
          <a:p>
            <a:r>
              <a:t>stops. Pull: fluid extracted.</a:t>
            </a:r>
          </a:p>
          <a:p/>
          <a:p>
            <a:r>
              <a:t>The critical difference from everything before this is that here I have NO</a:t>
            </a:r>
          </a:p>
          <a:p>
            <a:r>
              <a:t>GROUND TRUTH. I do not know the target geometry, I do not know the true</a:t>
            </a:r>
          </a:p>
          <a:p>
            <a:r>
              <a:t>displacement, and there is no pre-labelled region to fit. I picked the region of</a:t>
            </a:r>
          </a:p>
          <a:p>
            <a:r>
              <a:t>influence by hand, in napari, painting directly on the cross-spectrum — and I</a:t>
            </a:r>
          </a:p>
          <a:p>
            <a:r>
              <a:t>will come back to how much that choice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Cumulative displacement along the borehole, Gazdag solid, back-propagation</a:t>
            </a:r>
          </a:p>
          <a:p>
            <a:r>
              <a:t>dashed.</a:t>
            </a:r>
          </a:p>
          <a:p/>
          <a:p>
            <a:r>
              <a:t>The front moves UPWARD while fluid is pumped in, through Push and Chase. Pumping</a:t>
            </a:r>
          </a:p>
          <a:p>
            <a:r>
              <a:t>stops, and it settles back down through Wait and Pull. Exactly the physically</a:t>
            </a:r>
          </a:p>
          <a:p>
            <a:r>
              <a:t>expected pattern, given injection at 78.7 metres — inside the same depth band as</a:t>
            </a:r>
          </a:p>
          <a:p>
            <a:r>
              <a:t>the reflector I am tracking.</a:t>
            </a:r>
          </a:p>
          <a:p/>
          <a:p>
            <a:r>
              <a:t>But the part I would actually defend is the AGREEMENT between the two lines.</a:t>
            </a:r>
          </a:p>
          <a:p>
            <a:r>
              <a:t>Gazdag and back-propagation share NO processing steps downstream of the raw</a:t>
            </a:r>
          </a:p>
          <a:p>
            <a:r>
              <a:t>B-scans — different migration physics, different gain corrections, different</a:t>
            </a:r>
          </a:p>
          <a:p>
            <a:r>
              <a:t>artefact suppression. They agree on the sign of the displacement in every single</a:t>
            </a:r>
          </a:p>
          <a:p>
            <a:r>
              <a:t>stage. Two independent pipelines converging on the same trajectory is much</a:t>
            </a:r>
          </a:p>
          <a:p>
            <a:r>
              <a:t>stronger evidence that this is a real physical signal than either estimate alone.</a:t>
            </a:r>
          </a:p>
          <a:p/>
          <a:p>
            <a:r>
              <a:t>I want to be precise about what this does and does not show. It shows the</a:t>
            </a:r>
          </a:p>
          <a:p>
            <a:r>
              <a:t>pipeline GENERALISES — it survives real, noisy, geometry-unknown data and returns</a:t>
            </a:r>
          </a:p>
          <a:p>
            <a:r>
              <a:t>something stable and physically sensible. It is not a sub-wavelength validation,</a:t>
            </a:r>
          </a:p>
          <a:p>
            <a:r>
              <a:t>because I have no independent ground truth to validate against.</a:t>
            </a:r>
          </a:p>
          <a:p/>
          <a:p>
            <a:r>
              <a:t>═══════════════════════════════════════════════════════════════════</a:t>
            </a:r>
          </a:p>
          <a:p>
            <a:r>
              <a:t>★ REHEARSE THIS ANSWER VERBATIM — most likely technical challenge:</a:t>
            </a:r>
          </a:p>
          <a:p/>
          <a:p>
            <a:r>
              <a:t>Q: "Your field wavelength is ~1 m and your Push displacement is 1.66 m —</a:t>
            </a:r>
          </a:p>
          <a:p>
            <a:r>
              <a:t>    shouldn't the phase have wrapped?"</a:t>
            </a:r>
          </a:p>
          <a:p/>
          <a:p>
            <a:r>
              <a:t>A: The hand-picked k-space ROI is a narrow band around the spectral peak, which</a:t>
            </a:r>
          </a:p>
          <a:p>
            <a:r>
              <a:t>   keeps the total phase rotation inside ±π across that band. The ±λ/2</a:t>
            </a:r>
          </a:p>
          <a:p>
            <a:r>
              <a:t>   unambiguous range quoted in the synthetic study reflects the much wider</a:t>
            </a:r>
          </a:p>
          <a:p>
            <a:r>
              <a:t>   passband used there (|k| &lt; 1.4 k_c). The genuinely sub-wavelength stage here</a:t>
            </a:r>
          </a:p>
          <a:p>
            <a:r>
              <a:t>   is Pull, at 0.14 m against a ~1 m wavelength.</a:t>
            </a:r>
          </a:p>
          <a:p>
            <a:r>
              <a:t>═══════════════════════════════════════════════════════════════════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close.</a:t>
            </a:r>
          </a:p>
          <a:p/>
          <a:p>
            <a:r>
              <a:t>THE CLAIM. Time-lapse GPR can recover a movement about thirty times smaller than</a:t>
            </a:r>
          </a:p>
          <a:p>
            <a:r>
              <a:t>its own wavelength, by reading the phase of the migrated image instead of its</a:t>
            </a:r>
          </a:p>
          <a:p>
            <a:r>
              <a:t>amplitude. Down to one thirty-second of a wavelength, to a few tenths of a</a:t>
            </a:r>
          </a:p>
          <a:p>
            <a:r>
              <a:t>millimetre, exactly in the regime where the amplitude difference image has</a:t>
            </a:r>
          </a:p>
          <a:p>
            <a:r>
              <a:t>already collapsed — and that holds for a fluid front as well as a point</a:t>
            </a:r>
          </a:p>
          <a:p>
            <a:r>
              <a:t>scatterer.</a:t>
            </a:r>
          </a:p>
          <a:p/>
          <a:p>
            <a:r>
              <a:t>THE CAVEATS. Three, honestly. One: under noise the choice of migration is a real</a:t>
            </a:r>
          </a:p>
          <a:p>
            <a:r>
              <a:t>trade-off, not a solved problem, and I tested a single noise level. Two:</a:t>
            </a:r>
          </a:p>
          <a:p>
            <a:r>
              <a:t>choosing the region of influence by hand is the weakest link in the field</a:t>
            </a:r>
          </a:p>
          <a:p>
            <a:r>
              <a:t>pipeline — refitting with RANSAC changes a hand-picked k-space estimate by at</a:t>
            </a:r>
          </a:p>
          <a:p>
            <a:r>
              <a:t>most six percent, but an amplitude-gated one by up to fifty-nine. Three: a</a:t>
            </a:r>
          </a:p>
          <a:p>
            <a:r>
              <a:t>genuine change in medium velocity between surveys would masquerade as a vertical</a:t>
            </a:r>
          </a:p>
          <a:p>
            <a:r>
              <a:t>shift, and I have not tested that.</a:t>
            </a:r>
          </a:p>
          <a:p/>
          <a:p>
            <a:r>
              <a:t>WHAT'S NEXT. The most interesting one is multiple simultaneously-moving</a:t>
            </a:r>
          </a:p>
          <a:p>
            <a:r>
              <a:t>scatterers — in the wavenumber domain each imprints its own tilted ramp, and a</a:t>
            </a:r>
          </a:p>
          <a:p>
            <a:r>
              <a:t>global fit returns a meaningless blend, so that needs a localised variant.</a:t>
            </a:r>
          </a:p>
          <a:p>
            <a:r>
              <a:t>Beyond that: a noise-level sweep to find where the accuracy and safety criteria</a:t>
            </a:r>
          </a:p>
          <a:p>
            <a:r>
              <a:t>cross over, and running the corrected back-propagation over all thirty-eight</a:t>
            </a:r>
          </a:p>
          <a:p>
            <a:r>
              <a:t>field profiles instead of five.</a:t>
            </a:r>
          </a:p>
          <a:p/>
          <a:p>
            <a:r>
              <a:t>Thank you. I'm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1 /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~30s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148840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16223A"/>
                </a:solidFill>
                <a:latin typeface="Arial"/>
              </a:rPr>
              <a:t>Seeing Movement Smaller Than the Wave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3310128"/>
            <a:ext cx="3776472" cy="381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84448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00748C"/>
                </a:solidFill>
                <a:latin typeface="Arial"/>
              </a:rPr>
              <a:t>Phase-based sub-wavelength displacement sensing in time-lapse GPR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00600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8892A6"/>
                </a:solidFill>
                <a:latin typeface="Arial"/>
              </a:rPr>
              <a:t>Conner  ·  MSc Thesis Defense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8892A6"/>
                </a:solidFill>
                <a:latin typeface="Arial"/>
              </a:rPr>
              <a:t>Supervisors: [names]   ·   [institution]   · 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Two Surveys, One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~55s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4754880" cy="36576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8892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94944" y="1664207"/>
            <a:ext cx="1207008" cy="237744"/>
          </a:xfrm>
          <a:prstGeom prst="rect">
            <a:avLst/>
          </a:prstGeom>
          <a:solidFill>
            <a:srgbClr val="889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DRAW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80360"/>
            <a:ext cx="43891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Cartoon: MONDAY — ground cross-section, fracture, fluid front</a:t>
            </a:r>
          </a:p>
          <a:p>
            <a:pPr algn="ctr"/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(no source file — build this one by hand)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87568" y="1554480"/>
            <a:ext cx="4754880" cy="36576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8892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815583" y="1664207"/>
            <a:ext cx="1207008" cy="237744"/>
          </a:xfrm>
          <a:prstGeom prst="rect">
            <a:avLst/>
          </a:prstGeom>
          <a:solidFill>
            <a:srgbClr val="889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DRAW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2880360"/>
            <a:ext cx="43891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Cartoon: FRIDAY — identical, front advanced a few mm</a:t>
            </a:r>
          </a:p>
          <a:p>
            <a:pPr algn="ctr"/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(no source file — build this one by hand)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3108960"/>
            <a:ext cx="685800" cy="594360"/>
          </a:xfrm>
          <a:prstGeom prst="round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733288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5623560"/>
            <a:ext cx="9820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6223A"/>
                </a:solidFill>
                <a:latin typeface="Arial"/>
              </a:rPr>
              <a:t>Monday → Friday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21792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6108192"/>
            <a:ext cx="9820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6223A"/>
                </a:solidFill>
                <a:latin typeface="Arial"/>
              </a:rPr>
              <a:t>What moved? How far?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Resolution Is Set by the Wavelength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One survey. One snapshot. The classical limit.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~50s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10058400" cy="37947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C144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94944" y="1618488"/>
            <a:ext cx="1207008" cy="237744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ANIMATION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0322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ANIMATION 1 — two scatterers converging  (let it run to ~½λ, pause here)</a:t>
            </a:r>
          </a:p>
          <a:p>
            <a:pPr algn="ctr"/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assets/animations/anim1_imaging_floor.mp4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33288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23560"/>
            <a:ext cx="9820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6223A"/>
                </a:solidFill>
                <a:latin typeface="Arial"/>
              </a:rPr>
              <a:t>1.5 GHz in ice → λ ≈ 113 mm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1792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6108192"/>
            <a:ext cx="9820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6223A"/>
                </a:solidFill>
                <a:latin typeface="Arial"/>
              </a:rPr>
              <a:t>Two reflectors closer than ~λ/2 merge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Where the Image Gives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Three migration algorithms, all hitting the same wall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~60s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6949440" cy="3977639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94944" y="1618488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94660"/>
            <a:ext cx="6583679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Measured PSF collapse: 1λ → ½λ → ¼λ → ⅛λ, three methods</a:t>
            </a:r>
          </a:p>
          <a:p>
            <a:pPr algn="ctr"/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../TimeLapse_LaTeX/Thesis/17_August/fig_res_psf_crop.png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82127" y="1508760"/>
            <a:ext cx="2743200" cy="3977639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0727" y="18013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6223A"/>
                </a:solidFill>
                <a:latin typeface="Arial"/>
              </a:rPr>
              <a:t>Rayleigh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0727" y="235000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6223A"/>
                </a:solidFill>
                <a:latin typeface="Arial"/>
              </a:rPr>
              <a:t>1 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25128" y="2304288"/>
            <a:ext cx="1371600" cy="402336"/>
          </a:xfrm>
          <a:prstGeom prst="round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1.77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7" y="297180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6223A"/>
                </a:solidFill>
                <a:latin typeface="Arial"/>
              </a:rPr>
              <a:t>½ 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5128" y="2926080"/>
            <a:ext cx="1371600" cy="402336"/>
          </a:xfrm>
          <a:prstGeom prst="round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0.89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7" y="3593592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6223A"/>
                </a:solidFill>
                <a:latin typeface="Arial"/>
              </a:rPr>
              <a:t>¼ 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3547872"/>
            <a:ext cx="1371600" cy="402336"/>
          </a:xfrm>
          <a:prstGeom prst="round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0.44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7" y="4215384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6223A"/>
                </a:solidFill>
                <a:latin typeface="Arial"/>
              </a:rPr>
              <a:t>⅛ 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5128" y="4169664"/>
            <a:ext cx="1371600" cy="402336"/>
          </a:xfrm>
          <a:prstGeom prst="round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0.22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0727" y="48920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8892A6"/>
                </a:solidFill>
                <a:latin typeface="Arial"/>
              </a:rPr>
              <a:t>Kirchhoff. Below 1 = merged.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733288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5623560"/>
            <a:ext cx="65288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6223A"/>
                </a:solidFill>
                <a:latin typeface="Arial"/>
              </a:rPr>
              <a:t>Two static scatterers, closing 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21792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6108192"/>
            <a:ext cx="65288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6223A"/>
                </a:solidFill>
                <a:latin typeface="Arial"/>
              </a:rPr>
              <a:t>Below ~½λ: one lobe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Imaging Is Not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The distinction the rest of this talk depends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~60s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4846320" cy="41148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16168" y="1600200"/>
            <a:ext cx="4846320" cy="4114800"/>
          </a:xfrm>
          <a:prstGeom prst="roundRect">
            <a:avLst/>
          </a:prstGeom>
          <a:solidFill>
            <a:srgbClr val="E8F3F6"/>
          </a:solidFill>
          <a:ln w="12700">
            <a:solidFill>
              <a:srgbClr val="007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41848" y="1600200"/>
            <a:ext cx="31750" cy="4114800"/>
          </a:xfrm>
          <a:prstGeom prst="rect">
            <a:avLst/>
          </a:prstGeom>
          <a:solidFill>
            <a:srgbClr val="889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7" y="1856232"/>
            <a:ext cx="4297680" cy="502920"/>
          </a:xfrm>
          <a:prstGeom prst="roundRect">
            <a:avLst/>
          </a:prstGeom>
          <a:solidFill>
            <a:srgbClr val="889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IMAGING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856232"/>
            <a:ext cx="4297680" cy="502920"/>
          </a:xfrm>
          <a:prstGeom prst="round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6243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8892A6"/>
                </a:solidFill>
                <a:latin typeface="Arial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862072"/>
            <a:ext cx="42611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6223A"/>
                </a:solidFill>
                <a:latin typeface="Arial"/>
              </a:rPr>
              <a:t>Where is it?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26243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8892A6"/>
                </a:solidFill>
                <a:latin typeface="Arial"/>
              </a:rP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2862072"/>
            <a:ext cx="42611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6223A"/>
                </a:solidFill>
                <a:latin typeface="Arial"/>
              </a:rPr>
              <a:t>How far did it move?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37413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8892A6"/>
                </a:solidFill>
                <a:latin typeface="Arial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611880"/>
            <a:ext cx="42611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6223A"/>
                </a:solidFill>
                <a:latin typeface="Arial"/>
              </a:rPr>
              <a:t>One survey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337413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8892A6"/>
                </a:solidFill>
                <a:latin typeface="Arial"/>
              </a:rP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11880"/>
            <a:ext cx="42611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6223A"/>
                </a:solidFill>
                <a:latin typeface="Arial"/>
              </a:rPr>
              <a:t>Two surveys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1239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8892A6"/>
                </a:solidFill>
                <a:latin typeface="Arial"/>
              </a:rPr>
              <a:t>Axis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361688"/>
            <a:ext cx="42611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6223A"/>
                </a:solidFill>
                <a:latin typeface="Arial"/>
              </a:rPr>
              <a:t>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41239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8892A6"/>
                </a:solidFill>
                <a:latin typeface="Arial"/>
              </a:rPr>
              <a:t>Axis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6" y="4361688"/>
            <a:ext cx="42611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6223A"/>
                </a:solidFill>
                <a:latin typeface="Arial"/>
              </a:rPr>
              <a:t>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8737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8892A6"/>
                </a:solidFill>
                <a:latin typeface="Arial"/>
              </a:rPr>
              <a:t>Limit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5111496"/>
            <a:ext cx="42611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6223A"/>
                </a:solidFill>
                <a:latin typeface="Arial"/>
              </a:rPr>
              <a:t>Rayleigh,  ~λ/2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48737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8892A6"/>
                </a:solidFill>
                <a:latin typeface="Arial"/>
              </a:rPr>
              <a:t>Limit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8776" y="5111496"/>
            <a:ext cx="42611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C1440E"/>
                </a:solidFill>
                <a:latin typeface="Arial"/>
              </a:rP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8776" y="5148072"/>
            <a:ext cx="42611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C1440E"/>
                </a:solidFill>
                <a:latin typeface="Arial"/>
              </a:rPr>
              <a:t>← the subject of this thesis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0350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6223A"/>
                </a:solidFill>
                <a:latin typeface="Arial"/>
              </a:rPr>
              <a:t>Same radar. Same wavelength. Different question — so, possibly, a different limit.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Subtracting Two Images Doesn't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Now it IS time-lapse — and it inherits the same floor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~35s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10058400" cy="37947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C144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94944" y="1618488"/>
            <a:ext cx="1207008" cy="237744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ANIMATION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0322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ANIMATION 2 — baseline / monitor / difference, fixed colour scale</a:t>
            </a:r>
          </a:p>
          <a:p>
            <a:pPr algn="ctr"/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assets/animations/anim2_monitoring_floor.mp4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33288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23560"/>
            <a:ext cx="9820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6223A"/>
                </a:solidFill>
                <a:latin typeface="Arial"/>
              </a:rPr>
              <a:t>Difference the two images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1792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6108192"/>
            <a:ext cx="9820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6223A"/>
                </a:solidFill>
                <a:latin typeface="Arial"/>
              </a:rPr>
              <a:t>Still stuck at ~½λ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Amplitude Reads in Steps. Phase Reads Continuously.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The key insight — one scatterer, one trace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~60s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10058400" cy="37947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C144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94944" y="1618488"/>
            <a:ext cx="1207008" cy="237744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ANIMATION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0322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ANIMATION 3 — trace + phasor + staircase-vs-straight-line</a:t>
            </a:r>
          </a:p>
          <a:p>
            <a:pPr algn="ctr"/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assets/animations/anim3_envelope_vs_phase.mp4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33288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23560"/>
            <a:ext cx="9820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6223A"/>
                </a:solidFill>
                <a:latin typeface="Arial"/>
              </a:rPr>
              <a:t>Envelope: quantised, broad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1792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6108192"/>
            <a:ext cx="9820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6223A"/>
                </a:solidFill>
                <a:latin typeface="Arial"/>
              </a:rPr>
              <a:t>Phase: continuous, exact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A Shift in Space Is a Tilt in Wavenumber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Fourier shift theorem: translation rotates phase, leaves amplitude untouched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~50s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10058400" cy="379476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C144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94944" y="1618488"/>
            <a:ext cx="1207008" cy="237744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ANIMATION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0322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ANIMATION 4a — image sliding | cross-spectrum phase tilting | live fit</a:t>
            </a:r>
          </a:p>
          <a:p>
            <a:pPr algn="ctr"/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assets/animations/anim4_kdomain_lateral.mp4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33288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23560"/>
            <a:ext cx="9820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6223A"/>
                </a:solidFill>
                <a:latin typeface="Arial"/>
              </a:rPr>
              <a:t>Move in space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1792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6108192"/>
            <a:ext cx="9820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6223A"/>
                </a:solidFill>
                <a:latin typeface="Arial"/>
              </a:rPr>
              <a:t>Tilt in wavenumber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One Multiplication Cleans It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The cross-spectrum: everything the two images share cancels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9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~95s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27048"/>
            <a:ext cx="10058400" cy="868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709928"/>
            <a:ext cx="502920" cy="502920"/>
          </a:xfrm>
          <a:prstGeom prst="round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1645919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16223A"/>
                </a:solidFill>
                <a:latin typeface="Arial"/>
              </a:rPr>
              <a:t>m(x,z) = b(x−Δx, z−Δz)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02536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8892A6"/>
                </a:solidFill>
                <a:latin typeface="Arial"/>
              </a:rPr>
              <a:t>scatterer moves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79208" y="1709928"/>
            <a:ext cx="3063240" cy="502920"/>
          </a:xfrm>
          <a:prstGeom prst="roundRect">
            <a:avLst/>
          </a:prstGeom>
          <a:solidFill>
            <a:srgbClr val="F4F6F9"/>
          </a:solidFill>
          <a:ln w="15875">
            <a:solidFill>
              <a:srgbClr val="C144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223A"/>
                </a:solidFill>
                <a:latin typeface="Consolas"/>
              </a:rPr>
              <a:t>assets/animations/anim5_act1_model.mp4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32888"/>
            <a:ext cx="10058400" cy="868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715768"/>
            <a:ext cx="502920" cy="502920"/>
          </a:xfrm>
          <a:prstGeom prst="round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651760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16223A"/>
                </a:solidFill>
                <a:latin typeface="Arial"/>
              </a:rPr>
              <a:t>(same relation, after migration)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008376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8892A6"/>
                </a:solidFill>
                <a:latin typeface="Arial"/>
              </a:rPr>
              <a:t>→ migrated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79208" y="2715768"/>
            <a:ext cx="3063240" cy="502920"/>
          </a:xfrm>
          <a:prstGeom prst="roundRect">
            <a:avLst/>
          </a:prstGeom>
          <a:solidFill>
            <a:srgbClr val="F4F6F9"/>
          </a:solidFill>
          <a:ln w="15875">
            <a:solidFill>
              <a:srgbClr val="C144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223A"/>
                </a:solidFill>
                <a:latin typeface="Consolas"/>
              </a:rPr>
              <a:t>assets/animations/anim5_act2_migrated.mp4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38728"/>
            <a:ext cx="10058400" cy="868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721608"/>
            <a:ext cx="502920" cy="502920"/>
          </a:xfrm>
          <a:prstGeom prst="round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8176" y="3657600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16223A"/>
                </a:solidFill>
                <a:latin typeface="Arial"/>
              </a:rPr>
              <a:t>B(k) = ∫∫ b e^(−j k·r) dr        M = B · e^(−j k·Δ)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8176" y="4014216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8892A6"/>
                </a:solidFill>
                <a:latin typeface="Arial"/>
              </a:rPr>
              <a:t>→ wavenumber   |M| = |B|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79208" y="3721608"/>
            <a:ext cx="3063240" cy="502920"/>
          </a:xfrm>
          <a:prstGeom prst="roundRect">
            <a:avLst/>
          </a:prstGeom>
          <a:solidFill>
            <a:srgbClr val="F4F6F9"/>
          </a:solidFill>
          <a:ln w="15875">
            <a:solidFill>
              <a:srgbClr val="C144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223A"/>
                </a:solidFill>
                <a:latin typeface="Consolas"/>
              </a:rPr>
              <a:t>assets/animations/anim5_act3_spectrum.mp4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544568"/>
            <a:ext cx="10058400" cy="868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727448"/>
            <a:ext cx="502920" cy="502920"/>
          </a:xfrm>
          <a:prstGeom prst="round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4663440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16223A"/>
                </a:solidFill>
                <a:latin typeface="Arial"/>
              </a:rPr>
              <a:t>XS = B · M*  =  |B|² e^(+j k·Δ)        ∠XS = Φ = kₓΔx + k_zΔz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5020056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8892A6"/>
                </a:solidFill>
                <a:latin typeface="Arial"/>
              </a:rPr>
              <a:t>→ |XS| and ∠XS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79208" y="4727448"/>
            <a:ext cx="3063240" cy="502920"/>
          </a:xfrm>
          <a:prstGeom prst="roundRect">
            <a:avLst/>
          </a:prstGeom>
          <a:solidFill>
            <a:srgbClr val="F4F6F9"/>
          </a:solidFill>
          <a:ln w="15875">
            <a:solidFill>
              <a:srgbClr val="C144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6223A"/>
                </a:solidFill>
                <a:latin typeface="Consolas"/>
              </a:rPr>
              <a:t>assets/animations/anim5_act4_cross.mp4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760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8892A6"/>
                </a:solidFill>
                <a:latin typeface="Arial"/>
              </a:rPr>
              <a:t>Build order: reveal the formula → click → the clip morphs the panels into the next domain.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126480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00748C"/>
                </a:solidFill>
                <a:latin typeface="Arial"/>
              </a:rPr>
              <a:t>Φ(k_z , k_x)   =   k_z · Δz   +   k_x · Δx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Lateral Tilts One Way. Vertical Tilts the Other.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Two independent slopes of the same plane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10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~55s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10058400" cy="347472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C144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94944" y="1618488"/>
            <a:ext cx="1207008" cy="237744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ANIMATION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4320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ANIMATION 4b — 2×2: lateral vs vertical, image and k-domain</a:t>
            </a:r>
          </a:p>
          <a:p>
            <a:pPr algn="ctr"/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assets/animations/anim4_kdomain_both.mp4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21208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102352"/>
            <a:ext cx="9820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6223A"/>
                </a:solidFill>
                <a:latin typeface="Arial"/>
              </a:rPr>
              <a:t>Lateral → slope in k_x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696712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586984"/>
            <a:ext cx="9820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6223A"/>
                </a:solidFill>
                <a:latin typeface="Arial"/>
              </a:rPr>
              <a:t>Vertical → slope in k_z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181344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6071616"/>
            <a:ext cx="9820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6223A"/>
                </a:solidFill>
                <a:latin typeface="Arial"/>
              </a:rPr>
              <a:t>Diagonal → both, recovered separately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Fit the Plane, Weight by 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Thousands of noisy observations of one plane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11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~65s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10058400" cy="315468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94944" y="1618488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8318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Four-panel conceptual workflow: baseline → monitor → phase → fit</a:t>
            </a:r>
          </a:p>
          <a:p>
            <a:pPr algn="ctr"/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../TimeLapse_Figures/Resolution_Study/General/RES_018_Phase-Plane_Method__Conceptual_Workflow.png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001768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892040"/>
            <a:ext cx="64373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6223A"/>
                </a:solidFill>
                <a:latin typeface="Arial"/>
              </a:rPr>
              <a:t>Weighted least squares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48640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376672"/>
            <a:ext cx="64373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6223A"/>
                </a:solidFill>
                <a:latin typeface="Arial"/>
              </a:rPr>
              <a:t>Bright bins count more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971032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861304"/>
            <a:ext cx="64373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6223A"/>
                </a:solidFill>
                <a:latin typeface="Arial"/>
              </a:rPr>
              <a:t>Two slopes → Δx, Δz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4892040"/>
            <a:ext cx="2834640" cy="14173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5047488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equation 2 of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5376672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6223A"/>
                </a:solidFill>
                <a:latin typeface="Arial"/>
              </a:rPr>
              <a:t>u = (AᵀW²A)⁻¹ AᵀW² 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Phase Takes Over Exactly Where Amplitude Quits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Four movement types · three migration methods · clean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12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~75s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10058400" cy="393192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94944" y="1572768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2608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Detectability map — top: Rayleigh ratio | bottom: phase error %</a:t>
            </a:r>
          </a:p>
          <a:p>
            <a:pPr algn="ctr"/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../TimeLapse_Figures/Hypothesis_1/General/H1_037_Hypothesis_1_--_Detectability_Map_Amplitude_vs_Phase.png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33288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23560"/>
            <a:ext cx="57972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6223A"/>
                </a:solidFill>
                <a:latin typeface="Arial"/>
              </a:rPr>
              <a:t>Top: amplitude dies below ½λ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1792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6108192"/>
            <a:ext cx="57972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6223A"/>
                </a:solidFill>
                <a:latin typeface="Arial"/>
              </a:rPr>
              <a:t>Bottom: phase accurate to ¹⁄₃₂λ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28" y="5650992"/>
            <a:ext cx="3657600" cy="804672"/>
          </a:xfrm>
          <a:prstGeom prst="round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3–4 orders of magnitude,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in the regime amplitude cannot reach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It Works on a Fluid Front Too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A harder target than a metal cylinder — deliberately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13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~50s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4846320" cy="324612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94944" y="1618488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28900"/>
            <a:ext cx="4480559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Graded wetting zone: 7 permittivity steps, water → air</a:t>
            </a:r>
          </a:p>
          <a:p>
            <a:pPr algn="ctr"/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../TimeLapse_Figures/Hypothesis_1/General/H1_028_FluidFlow_--_Model_Set_Up_baseline_graded_zone_true_scale.png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79008" y="1508760"/>
            <a:ext cx="4846320" cy="324612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907024" y="1618488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1888" y="2628900"/>
            <a:ext cx="4480559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MAE summary — grey out all groups except FluidFlow</a:t>
            </a:r>
          </a:p>
          <a:p>
            <a:pPr algn="ctr"/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../TimeLapse_Figures/Hypothesis_1/General/H1_039_Hypothesis_1_--_MAE_Summary_Across_Movement_Types.png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4956048"/>
            <a:ext cx="4480560" cy="548640"/>
          </a:xfrm>
          <a:prstGeom prst="round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≈ 1 mm error on a 113 mm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733288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623560"/>
            <a:ext cx="9820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6223A"/>
                </a:solidFill>
                <a:latin typeface="Arial"/>
              </a:rPr>
              <a:t>Amplitude fails even earlier than for a hard reflector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21792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6108192"/>
            <a:ext cx="9820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6223A"/>
                </a:solidFill>
                <a:latin typeface="Arial"/>
              </a:rPr>
              <a:t>Phase: still ~1 mm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What Migration Does to Nothing at 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Laplace noise, fitted to the real field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14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~65s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10058400" cy="32918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94944" y="1618488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5176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Pure noise in → Kirchhoff (coherent!) vs Gazdag (speckle)</a:t>
            </a:r>
          </a:p>
          <a:p>
            <a:pPr algn="ctr"/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../TimeLapse_Figures/Hypothesis_2/Noisy/Kirchhoff/H2_003_Migrating_Pure_Noise_no_scatterers_no_signal_--_Kirchhoff_vs.png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09744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C1440E"/>
                </a:solidFill>
                <a:latin typeface="Arial"/>
              </a:rPr>
              <a:t>Circle one bright cluster in the Kirchhoff panel and label it: “looks like a target — isn’t one.”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248656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138928"/>
            <a:ext cx="9820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6223A"/>
                </a:solidFill>
                <a:latin typeface="Arial"/>
              </a:rPr>
              <a:t>Input: pure noise, no target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733288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5623560"/>
            <a:ext cx="9820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6223A"/>
                </a:solidFill>
                <a:latin typeface="Arial"/>
              </a:rPr>
              <a:t>Kirchhoff manufactures structure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21792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6108192"/>
            <a:ext cx="9820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6223A"/>
                </a:solidFill>
                <a:latin typeface="Arial"/>
              </a:rPr>
              <a:t>Gazdag stays speckle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Accuracy and Safety Pick Different Winners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Mean absolute error, sub-½λ regime, all four movement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15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~75s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3048" y="15819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8892A6"/>
                </a:solidFill>
                <a:latin typeface="Arial"/>
              </a:rPr>
              <a:t>ACCURACY (MAE)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67728" y="158191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8892A6"/>
                </a:solidFill>
                <a:latin typeface="Arial"/>
              </a:rPr>
              <a:t>FALSE-POSITIVE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48840"/>
            <a:ext cx="10058400" cy="74980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33172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6223A"/>
                </a:solidFill>
                <a:latin typeface="Arial"/>
              </a:rPr>
              <a:t>Kirchhoff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95928" y="2295144"/>
            <a:ext cx="2377440" cy="457200"/>
          </a:xfrm>
          <a:prstGeom prst="round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4.5 mm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2295144"/>
            <a:ext cx="2926080" cy="457200"/>
          </a:xfrm>
          <a:prstGeom prst="round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Invents coherent targets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081528"/>
            <a:ext cx="10058400" cy="74980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264408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6223A"/>
                </a:solidFill>
                <a:latin typeface="Arial"/>
              </a:rPr>
              <a:t>Back-prop  (sign-bit)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95928" y="3227832"/>
            <a:ext cx="2377440" cy="457200"/>
          </a:xfrm>
          <a:prstGeom prst="roundRect">
            <a:avLst/>
          </a:prstGeom>
          <a:solidFill>
            <a:srgbClr val="889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11.1 mm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0608" y="3227832"/>
            <a:ext cx="2926080" cy="457200"/>
          </a:xfrm>
          <a:prstGeom prst="round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Stays incoherent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14216"/>
            <a:ext cx="10058400" cy="74980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197096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6223A"/>
                </a:solidFill>
                <a:latin typeface="Arial"/>
              </a:rPr>
              <a:t>Gazdag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95928" y="4160520"/>
            <a:ext cx="2377440" cy="457200"/>
          </a:xfrm>
          <a:prstGeom prst="round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20.3 mm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50608" y="4160520"/>
            <a:ext cx="2926080" cy="457200"/>
          </a:xfrm>
          <a:prstGeom prst="round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Stays incoherent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4956048"/>
            <a:ext cx="6492240" cy="566928"/>
          </a:xfrm>
          <a:prstGeom prst="round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Most accurate  ≠  safest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733288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623560"/>
            <a:ext cx="9820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6223A"/>
                </a:solidFill>
                <a:latin typeface="Arial"/>
              </a:rPr>
              <a:t>Kirchhoff: accurate, but cross-check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1792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6108192"/>
            <a:ext cx="9820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6223A"/>
                </a:solidFill>
                <a:latin typeface="Arial"/>
              </a:rPr>
              <a:t>Sign-bit back-prop: the conservative choice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A Borehole, and 38 Surveys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Push–pull tracer test in fractured rock  ·  6 June 2016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16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~55s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3657600" cy="36576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94944" y="1618488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34640"/>
            <a:ext cx="3291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Borehole domain: water-filled channel, injection at 78.7 m</a:t>
            </a:r>
          </a:p>
          <a:p>
            <a:pPr algn="ctr"/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../TimeLapse_Figures/FieldData_Study/Compilations/FD_borehole_domain_schematic.png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1728" y="1920240"/>
            <a:ext cx="1389888" cy="502920"/>
          </a:xfrm>
          <a:prstGeom prst="round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532888"/>
            <a:ext cx="1389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6223A"/>
                </a:solidFill>
                <a:latin typeface="Arial"/>
              </a:rPr>
              <a:t>1 →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862072"/>
            <a:ext cx="1389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8892A6"/>
                </a:solidFill>
                <a:latin typeface="Arial"/>
              </a:rPr>
              <a:t>injecting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1728" y="3383280"/>
            <a:ext cx="1389888" cy="38404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6223A"/>
                </a:solidFill>
                <a:latin typeface="Arial"/>
              </a:rPr>
              <a:t>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71616" y="1984248"/>
            <a:ext cx="201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8892A6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1920240"/>
            <a:ext cx="1389888" cy="502920"/>
          </a:xfrm>
          <a:prstGeom prst="round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CHASE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532888"/>
            <a:ext cx="1389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6223A"/>
                </a:solidFill>
                <a:latin typeface="Arial"/>
              </a:rPr>
              <a:t>3 →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2862072"/>
            <a:ext cx="1389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8892A6"/>
                </a:solidFill>
                <a:latin typeface="Arial"/>
              </a:rPr>
              <a:t>still injecting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3383280"/>
            <a:ext cx="1389888" cy="38404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6223A"/>
                </a:solidFill>
                <a:latin typeface="Arial"/>
              </a:rPr>
              <a:t>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2" y="1984248"/>
            <a:ext cx="201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8892A6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20240"/>
            <a:ext cx="1389888" cy="502920"/>
          </a:xfrm>
          <a:prstGeom prst="roundRect">
            <a:avLst/>
          </a:prstGeom>
          <a:solidFill>
            <a:srgbClr val="889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WAIT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532888"/>
            <a:ext cx="1389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6223A"/>
                </a:solidFill>
                <a:latin typeface="Arial"/>
              </a:rPr>
              <a:t>8 → 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862072"/>
            <a:ext cx="1389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8892A6"/>
                </a:solidFill>
                <a:latin typeface="Arial"/>
              </a:rPr>
              <a:t>pumping stops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3383280"/>
            <a:ext cx="1389888" cy="38404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6223A"/>
                </a:solidFill>
                <a:latin typeface="Arial"/>
              </a:rPr>
              <a:t>settle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1984248"/>
            <a:ext cx="201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8892A6"/>
                </a:solidFill>
                <a:latin typeface="Arial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54896" y="1920240"/>
            <a:ext cx="1389888" cy="502920"/>
          </a:xfrm>
          <a:prstGeom prst="roundRect">
            <a:avLst/>
          </a:prstGeom>
          <a:solidFill>
            <a:srgbClr val="889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PULL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532888"/>
            <a:ext cx="1389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6223A"/>
                </a:solidFill>
                <a:latin typeface="Arial"/>
              </a:rPr>
              <a:t>20 → 38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4896" y="2862072"/>
            <a:ext cx="1389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8892A6"/>
                </a:solidFill>
                <a:latin typeface="Arial"/>
              </a:rPr>
              <a:t>extracting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54896" y="3383280"/>
            <a:ext cx="1389888" cy="38404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6223A"/>
                </a:solidFill>
                <a:latin typeface="Arial"/>
              </a:rPr>
              <a:t>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1728" y="40690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C1440E"/>
                </a:solidFill>
                <a:latin typeface="Arial"/>
              </a:rPr>
              <a:t>No ground truth. Target geometry unknown, true displacement unknown,</a:t>
            </a:r>
            <a:br/>
            <a:r>
              <a:rPr sz="1300" b="0" i="1">
                <a:solidFill>
                  <a:srgbClr val="C1440E"/>
                </a:solidFill>
                <a:latin typeface="Arial"/>
              </a:rPr>
              <a:t>region of influence painted by hand in napari.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733288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5623560"/>
            <a:ext cx="9820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6223A"/>
                </a:solidFill>
                <a:latin typeface="Arial"/>
              </a:rPr>
              <a:t>38 borehole profiles, fractured rock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21792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6108192"/>
            <a:ext cx="9820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6223A"/>
                </a:solidFill>
                <a:latin typeface="Arial"/>
              </a:rPr>
              <a:t>Injection at 78.7 m — same band as the tracked reflector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Two Independent Pipelines, One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Cumulative displacement along the borehole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17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~80s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7315200" cy="347472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94944" y="1618488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43200"/>
            <a:ext cx="69494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Stage-anchored displacement: Gazdag (solid) vs back-prop (dashed)</a:t>
            </a:r>
          </a:p>
          <a:p>
            <a:pPr algn="ctr"/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../TimeLapse_LaTeX/Thesis/17_August/fig_fielddata_stages.png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47888" y="1508760"/>
            <a:ext cx="2377440" cy="34747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0767" y="17373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8892A6"/>
                </a:solidFill>
                <a:latin typeface="Arial"/>
              </a:rPr>
              <a:t>Push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7" y="210312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6223A"/>
                </a:solidFill>
                <a:latin typeface="Arial"/>
              </a:rPr>
              <a:t>−1.66 m  Gazdag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6223A"/>
                </a:solidFill>
                <a:latin typeface="Arial"/>
              </a:rPr>
              <a:t>−2.06 m  back-prop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7" y="3172968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8892A6"/>
                </a:solidFill>
                <a:latin typeface="Arial"/>
              </a:rPr>
              <a:t>Agreement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30767" y="3502152"/>
            <a:ext cx="2011680" cy="685800"/>
          </a:xfrm>
          <a:prstGeom prst="round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same sign,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every stage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7" y="425196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8892A6"/>
                </a:solidFill>
                <a:latin typeface="Arial"/>
              </a:rPr>
              <a:t>No shared processing downstream of the raw B-scans.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212080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102352"/>
            <a:ext cx="9820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6223A"/>
                </a:solidFill>
                <a:latin typeface="Arial"/>
              </a:rPr>
              <a:t>Up while injecting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696712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586984"/>
            <a:ext cx="9820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6223A"/>
                </a:solidFill>
                <a:latin typeface="Arial"/>
              </a:rPr>
              <a:t>Back down when pumping stops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181344"/>
            <a:ext cx="114300" cy="11430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6071616"/>
            <a:ext cx="98206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6223A"/>
                </a:solidFill>
                <a:latin typeface="Arial"/>
              </a:rPr>
              <a:t>Two methods, no shared processing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What This Buys, and What It Costs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27487" y="660196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18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60196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8892A6"/>
                </a:solidFill>
                <a:latin typeface="Arial"/>
              </a:rPr>
              <a:t>~100s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3154680" cy="502920"/>
          </a:xfrm>
          <a:prstGeom prst="round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✔ 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58568"/>
            <a:ext cx="2971800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Sub-wavelength movement,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read from phase.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Down to ¹⁄₃₂ λ,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to a few tenths of a mm —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where amplitude has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already collapsed.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Holds for a fluid front,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not just a point scatterer.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05656" y="1554480"/>
            <a:ext cx="3154680" cy="502920"/>
          </a:xfrm>
          <a:prstGeom prst="round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⚠  CAVEAT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7096" y="2258568"/>
            <a:ext cx="2971800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Migration choice under noise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is a trade-off, not solved.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One noise level tested.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ROI picked by hand is the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weakest link: RANSAC shifts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a k-space pick ≤ 6%,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a B-scan pick up to 59%.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Velocity change would mimic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a vertical shift. Untested.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44383" y="1554480"/>
            <a:ext cx="3154680" cy="502920"/>
          </a:xfrm>
          <a:prstGeom prst="round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→  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35823" y="2258568"/>
            <a:ext cx="2971800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Multiple simultaneous movers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— each imprints its own ramp,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so a global fit blends them.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Needs a localised variant.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Noise-level sweep to find the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accuracy / safety crossover.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All 38 field profiles, not 5.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350" b="0" i="0">
                <a:solidFill>
                  <a:srgbClr val="16223A"/>
                </a:solidFill>
                <a:latin typeface="Arial"/>
              </a:rPr>
              <a:t>Step-by-step, not 4 stages.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1447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6223A"/>
                </a:solidFill>
                <a:latin typeface="Arial"/>
              </a:rPr>
              <a:t>Thank you.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0"/>
            <a:ext cx="110578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8892A6"/>
                </a:solidFill>
                <a:latin typeface="Arial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84048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8892A6"/>
                </a:solidFill>
                <a:latin typeface="Arial"/>
              </a:rPr>
              <a:t>Do not present. Jump here from Q&amp;A.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Phase-Plane Fit, Full Diagnostic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“Show me an actual fit.”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0058400" cy="48920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94944" y="1664207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9758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Backup asset</a:t>
            </a:r>
          </a:p>
          <a:p>
            <a:pPr algn="ctr"/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../TimeLapse_Figures/Hypothesis_1/Gazdag/H1_038_Phase-Plane_Workflow_--_Gazdag_Lateral_132_λ.png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4607" y="6601968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B1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Does the Weighting Actually Help?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OLS vs WLS, hardest noisy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0058400" cy="48920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94944" y="1664207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9758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Backup asset</a:t>
            </a:r>
          </a:p>
          <a:p>
            <a:pPr algn="ctr"/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../TimeLapse_Figures/Hypothesis_2/General/H2_008_Chapter_54_--_OLS_vs_WLS_Phase-Plane_Fitting_on_Noisy_Data.png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4607" y="6601968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B2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Why Laplace?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Field noise distribution + Gaussian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0058400" cy="48920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94944" y="1664207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9758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Backup asset</a:t>
            </a:r>
          </a:p>
          <a:p>
            <a:pPr algn="ctr"/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../TimeLapse_Figures/Hypothesis_2/General/H2_002_Noise_distribution_at_7_Constant_Velocity_pre-gain_with_Lapl.png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4607" y="6601968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B3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How Much Does the ROI Matter?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WLS vs RANSAC, all pairs and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0058400" cy="48920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94944" y="1664207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9758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Backup asset</a:t>
            </a:r>
          </a:p>
          <a:p>
            <a:pPr algn="ctr"/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../TimeLapse_Figures/FieldData_Study/Compilations/FD_ransac_vs_wls_displacement_summary.png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4607" y="6601968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B4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Does Slide 12 Survive Noise?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Noisy detectability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0058400" cy="48920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94944" y="1664207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9758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Backup asset</a:t>
            </a:r>
          </a:p>
          <a:p>
            <a:pPr algn="ctr"/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../TimeLapse_Figures/Hypothesis_2/General/H2_029_Hypothesis_2_--_Detectability_Map_Noisy.png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4607" y="6601968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B5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Clean vs Noisy, Every 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Dumbbell plot, log axis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0058400" cy="48920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94944" y="1664207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9758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Backup asset</a:t>
            </a:r>
          </a:p>
          <a:p>
            <a:pPr algn="ctr"/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../TimeLapse_Figures/Hypothesis_2/General/H2_030_Hypothesis_2_--_Clean_vs_Noisy_MAE_Dumbbell_Plot.png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4607" y="6601968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B6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What Does the Raw Field Data Look Like?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5 profiles × 4 representations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0058400" cy="48920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94944" y="1664207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9758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Backup asset</a:t>
            </a:r>
          </a:p>
          <a:p>
            <a:pPr algn="ctr"/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../TimeLapse_Figures/FieldData_Study/Compilations/FD_profile_migration_grid.png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4607" y="6601968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B7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What Is Sign-Bit Time Reversal?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Peak-normalised vs sign-bit excitation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0058400" cy="48920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74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94944" y="1664207"/>
            <a:ext cx="1207008" cy="237744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9758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Backup asset</a:t>
            </a:r>
          </a:p>
          <a:p>
            <a:pPr algn="ctr"/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../TimeLapse_Figures/Hypothesis_2/Back-Propagation/H2_007_Sign-Bit_Time-Reversed_Excitation_--_B-scans_and_Spectra_Lat.png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4607" y="6601968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B8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6223A"/>
                </a:solidFill>
                <a:latin typeface="Arial"/>
              </a:rPr>
              <a:t>Vertical Motion in the k-Domain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8892A6"/>
                </a:solidFill>
                <a:latin typeface="Arial"/>
              </a:rPr>
              <a:t>Animation 4, vertical mode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1057839" cy="31750"/>
          </a:xfrm>
          <a:prstGeom prst="rect">
            <a:avLst/>
          </a:prstGeom>
          <a:solidFill>
            <a:srgbClr val="00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0058400" cy="489204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C144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94944" y="1664207"/>
            <a:ext cx="1207008" cy="237744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ANIMATION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97580"/>
            <a:ext cx="9692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6223A"/>
                </a:solidFill>
                <a:latin typeface="Arial"/>
              </a:rPr>
              <a:t>Backup asset</a:t>
            </a:r>
          </a:p>
          <a:p>
            <a:pPr algn="ctr"/>
          </a:p>
          <a:p>
            <a:pPr algn="ctr"/>
            <a:r>
              <a:rPr sz="950" b="0">
                <a:solidFill>
                  <a:srgbClr val="8892A6"/>
                </a:solidFill>
                <a:latin typeface="Consolas"/>
              </a:rPr>
              <a:t>assets/animations/anim4_kdomain_vertical.mp4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44607" y="6601968"/>
            <a:ext cx="1280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892A6"/>
                </a:solidFill>
                <a:latin typeface="Arial"/>
              </a:rPr>
              <a:t>B9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